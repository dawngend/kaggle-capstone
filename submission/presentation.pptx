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"For student-athletes, coaching assistants, and high-performance performers, balancing intensive athletic training with rigorous data science coursework is a severe friction point. When we spar or run drills, physical exhaustion directly impacts our cognitive bandwidth, leading to burnout. To solve this, we built the 'Runtime Terrors Companion'—a multi-agent AI system designed to dynamically balance physical recovery with structured academic learning pipelines. Our mission is to keep student-athletes physically healthy while helping them master complex data science concepts."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"Let's talk about the core friction. Student-athletes have to manage rigorous coursework alongside heavy physical training. High training volume leads to mental burnout and fatigue. The Runtime Terrors Companion solves this by tracking training load and adjusting study schedules dynamically. This falls perfectly into the 'Agents for Good' track, safeguarding student health while supporting academic outcomes."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"Our system architecture is centered around a multi-agent orchestrator built with the Agent Development Kit. The Academic Tutor Agent guides data science students, while the Performance Coach Agent logs training metrics and recovery data. These agents maintain user context through a relational database adapter. Finally, the entire system is exposed via a Model Context Protocol server, letting external clients execute our tools."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"This project serves as a showcase of the key concepts from the course. We've implemented a robust multi-agent hub using the ADK, a FastMCP server that exposes our core skills, standalone OCR and mathematical skills, security layers to exclude raw API keys and prevent SQL injection, and a production-ready Docker configuration for cloud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"Under the hood, the agents call standalone mathematical and algorithmic skills. Sophy generates taglish flashcards scheduled with the SuperMemo SM-2 algorithm based on recall accuracy. Our document parser extracts text from PDF and PPTX files with OCR fallbacks. And our ML Sandbox lets students run a 5-phase classification pipeline securely without any data leakage."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Script:</a:t>
            </a:r>
          </a:p>
          <a:p>
            <a:r>
              <a:t>"In production environments, security is non-negotiable. The companion avoids hardcoded API keys by utilizing Application Default Credentials. Database operations are strictly bound using parameterized queries to block SQL injection. The system is containerized using Docker, making it highly deployable to serverless container hosts like Google Cloud Run.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F0"/>
        </a:solidFill>
        <a:effectLst/>
      </p:bgPr>
    </p:bg>
    <p:spTree>
      <p:nvGrpSpPr>
        <p:cNvPr id="1" name=""/>
        <p:cNvGrpSpPr/>
        <p:nvPr/>
      </p:nvGrpSpPr>
      <p:grpSpPr/>
      <p:sp>
        <p:nvSpPr>
          <p:cNvPr id="2" name="TextBox 1"/>
          <p:cNvSpPr txBox="1"/>
          <p:nvPr/>
        </p:nvSpPr>
        <p:spPr>
          <a:xfrm>
            <a:off x="914400" y="1828800"/>
            <a:ext cx="10362895" cy="1828800"/>
          </a:xfrm>
          <a:prstGeom prst="rect">
            <a:avLst/>
          </a:prstGeom>
          <a:noFill/>
        </p:spPr>
        <p:txBody>
          <a:bodyPr wrap="square">
            <a:spAutoFit/>
          </a:bodyPr>
          <a:lstStyle/>
          <a:p>
            <a:pPr algn="l">
              <a:defRPr sz="5400" b="1">
                <a:solidFill>
                  <a:srgbClr val="2563EB"/>
                </a:solidFill>
                <a:latin typeface="Outfit"/>
              </a:defRPr>
            </a:pPr>
            <a:r>
              <a:t>Runtime Terrors Companion</a:t>
            </a:r>
          </a:p>
          <a:p>
            <a:pPr algn="l">
              <a:defRPr sz="2400" i="1">
                <a:solidFill>
                  <a:srgbClr val="0F172A"/>
                </a:solidFill>
                <a:latin typeface="Inter"/>
              </a:defRPr>
            </a:pPr>
            <a:r>
              <a:t>Multi-Agent AI Study &amp; Athletic Performance Companion</a:t>
            </a:r>
          </a:p>
        </p:txBody>
      </p:sp>
      <p:sp>
        <p:nvSpPr>
          <p:cNvPr id="3" name="TextBox 2"/>
          <p:cNvSpPr txBox="1"/>
          <p:nvPr/>
        </p:nvSpPr>
        <p:spPr>
          <a:xfrm>
            <a:off x="914400" y="4114800"/>
            <a:ext cx="10362895" cy="1371600"/>
          </a:xfrm>
          <a:prstGeom prst="rect">
            <a:avLst/>
          </a:prstGeom>
          <a:noFill/>
        </p:spPr>
        <p:txBody>
          <a:bodyPr wrap="square">
            <a:spAutoFit/>
          </a:bodyPr>
          <a:lstStyle/>
          <a:p>
            <a:pPr>
              <a:defRPr sz="1600" b="1">
                <a:solidFill>
                  <a:srgbClr val="475569"/>
                </a:solidFill>
                <a:latin typeface="Inter"/>
              </a:defRPr>
            </a:pPr>
            <a:r>
              <a:t>Kaggle Capstone Project: Agents for Good Track</a:t>
            </a:r>
          </a:p>
          <a:p>
            <a:pPr>
              <a:defRPr sz="1400">
                <a:solidFill>
                  <a:srgbClr val="475569"/>
                </a:solidFill>
                <a:latin typeface="Inter"/>
              </a:defRPr>
            </a:pPr>
            <a:r>
              <a:t>Author: Dawn Andrei Pamesa (BS Data Science student at FEU Institute of Technology)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F0"/>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a:spAutoFit/>
          </a:bodyPr>
          <a:lstStyle/>
          <a:p>
            <a:pPr>
              <a:defRPr sz="4000" b="1">
                <a:solidFill>
                  <a:srgbClr val="2563EB"/>
                </a:solidFill>
                <a:latin typeface="Outfit"/>
              </a:defRPr>
            </a:pPr>
            <a:r>
              <a:t>The Friction: Physical Load vs. Cognitive Fatigue</a:t>
            </a:r>
          </a:p>
        </p:txBody>
      </p:sp>
      <p:sp>
        <p:nvSpPr>
          <p:cNvPr id="3" name="TextBox 2"/>
          <p:cNvSpPr txBox="1"/>
          <p:nvPr/>
        </p:nvSpPr>
        <p:spPr>
          <a:xfrm>
            <a:off x="914400" y="1828800"/>
            <a:ext cx="10362895" cy="4114800"/>
          </a:xfrm>
          <a:prstGeom prst="rect">
            <a:avLst/>
          </a:prstGeom>
          <a:noFill/>
        </p:spPr>
        <p:txBody>
          <a:bodyPr wrap="square">
            <a:spAutoFit/>
          </a:bodyPr>
          <a:lstStyle/>
          <a:p>
            <a:pPr>
              <a:spcAft>
                <a:spcPts val="1400"/>
              </a:spcAft>
              <a:defRPr sz="1800">
                <a:solidFill>
                  <a:srgbClr val="0F172A"/>
                </a:solidFill>
                <a:latin typeface="Inter"/>
              </a:defRPr>
            </a:pPr>
            <a:r>
              <a:t>• Friction Point: Balancing intense athletic workouts with demanding BS Data Science courses.</a:t>
            </a:r>
          </a:p>
          <a:p>
            <a:pPr>
              <a:spcAft>
                <a:spcPts val="1400"/>
              </a:spcAft>
              <a:defRPr sz="1800">
                <a:solidFill>
                  <a:srgbClr val="0F172A"/>
                </a:solidFill>
                <a:latin typeface="Inter"/>
              </a:defRPr>
            </a:pPr>
            <a:r>
              <a:t>• Burnout Impact: High training loads (sparring, drills) lead to physical fatigue and mental fog.</a:t>
            </a:r>
          </a:p>
          <a:p>
            <a:pPr>
              <a:spcAft>
                <a:spcPts val="1400"/>
              </a:spcAft>
              <a:defRPr sz="1800">
                <a:solidFill>
                  <a:srgbClr val="0F172A"/>
                </a:solidFill>
                <a:latin typeface="Inter"/>
              </a:defRPr>
            </a:pPr>
            <a:r>
              <a:t>• Solution: A system that dynamically adapts study loads to match the user's current athletic recovery state.</a:t>
            </a:r>
          </a:p>
          <a:p>
            <a:pPr>
              <a:spcAft>
                <a:spcPts val="1400"/>
              </a:spcAft>
              <a:defRPr sz="1800">
                <a:solidFill>
                  <a:srgbClr val="0F172A"/>
                </a:solidFill>
                <a:latin typeface="Inter"/>
              </a:defRPr>
            </a:pPr>
            <a:r>
              <a:t>• Track: Agents for Good - optimizing academic learning performance while safeguarding physical student health.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F0"/>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a:spAutoFit/>
          </a:bodyPr>
          <a:lstStyle/>
          <a:p>
            <a:pPr>
              <a:defRPr sz="4000" b="1">
                <a:solidFill>
                  <a:srgbClr val="2563EB"/>
                </a:solidFill>
                <a:latin typeface="Outfit"/>
              </a:defRPr>
            </a:pPr>
            <a:r>
              <a:t>ADK Multi-Agent Architecture</a:t>
            </a:r>
          </a:p>
        </p:txBody>
      </p:sp>
      <p:sp>
        <p:nvSpPr>
          <p:cNvPr id="3" name="TextBox 2"/>
          <p:cNvSpPr txBox="1"/>
          <p:nvPr/>
        </p:nvSpPr>
        <p:spPr>
          <a:xfrm>
            <a:off x="914400" y="1828800"/>
            <a:ext cx="10362895" cy="4114800"/>
          </a:xfrm>
          <a:prstGeom prst="rect">
            <a:avLst/>
          </a:prstGeom>
          <a:noFill/>
        </p:spPr>
        <p:txBody>
          <a:bodyPr wrap="square">
            <a:spAutoFit/>
          </a:bodyPr>
          <a:lstStyle/>
          <a:p>
            <a:pPr>
              <a:spcAft>
                <a:spcPts val="1400"/>
              </a:spcAft>
              <a:defRPr sz="1800">
                <a:solidFill>
                  <a:srgbClr val="0F172A"/>
                </a:solidFill>
                <a:latin typeface="Inter"/>
              </a:defRPr>
            </a:pPr>
            <a:r>
              <a:t>• Academic Tutor Agent: Elite FEU Tech DS tutor breaking down complex ML algorithms &amp; checking comprehension.</a:t>
            </a:r>
          </a:p>
          <a:p>
            <a:pPr>
              <a:spcAft>
                <a:spcPts val="1400"/>
              </a:spcAft>
              <a:defRPr sz="1800">
                <a:solidFill>
                  <a:srgbClr val="0F172A"/>
                </a:solidFill>
                <a:latin typeface="Inter"/>
              </a:defRPr>
            </a:pPr>
            <a:r>
              <a:t>• Performance Coach Agent: Coordinates athletic sessions, computes recovery metrics, and guides load balance.</a:t>
            </a:r>
          </a:p>
          <a:p>
            <a:pPr>
              <a:spcAft>
                <a:spcPts val="1400"/>
              </a:spcAft>
              <a:defRPr sz="1800">
                <a:solidFill>
                  <a:srgbClr val="0F172A"/>
                </a:solidFill>
                <a:latin typeface="Inter"/>
              </a:defRPr>
            </a:pPr>
            <a:r>
              <a:t>• Orchestration Hub: Custom orchestrator managing conversation contexts via relational SQLite/PostgreSQL databases.</a:t>
            </a:r>
          </a:p>
          <a:p>
            <a:pPr>
              <a:spcAft>
                <a:spcPts val="1400"/>
              </a:spcAft>
              <a:defRPr sz="1800">
                <a:solidFill>
                  <a:srgbClr val="0F172A"/>
                </a:solidFill>
                <a:latin typeface="Inter"/>
              </a:defRPr>
            </a:pPr>
            <a:r>
              <a:t>• Interoperable Protocol: Exposes core components to external clients via Model Context Protocol (MCP) Server.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F0"/>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a:spAutoFit/>
          </a:bodyPr>
          <a:lstStyle/>
          <a:p>
            <a:pPr>
              <a:defRPr sz="4000" b="1">
                <a:solidFill>
                  <a:srgbClr val="2563EB"/>
                </a:solidFill>
                <a:latin typeface="Outfit"/>
              </a:defRPr>
            </a:pPr>
            <a:r>
              <a:t>Key Course Concepts Demonstrated</a:t>
            </a:r>
          </a:p>
        </p:txBody>
      </p:sp>
      <p:sp>
        <p:nvSpPr>
          <p:cNvPr id="3" name="TextBox 2"/>
          <p:cNvSpPr txBox="1"/>
          <p:nvPr/>
        </p:nvSpPr>
        <p:spPr>
          <a:xfrm>
            <a:off x="914400" y="1828800"/>
            <a:ext cx="10362895" cy="4114800"/>
          </a:xfrm>
          <a:prstGeom prst="rect">
            <a:avLst/>
          </a:prstGeom>
          <a:noFill/>
        </p:spPr>
        <p:txBody>
          <a:bodyPr wrap="square">
            <a:spAutoFit/>
          </a:bodyPr>
          <a:lstStyle/>
          <a:p>
            <a:pPr>
              <a:spcAft>
                <a:spcPts val="1400"/>
              </a:spcAft>
              <a:defRPr sz="1800">
                <a:solidFill>
                  <a:srgbClr val="0F172A"/>
                </a:solidFill>
                <a:latin typeface="Inter"/>
              </a:defRPr>
            </a:pPr>
            <a:r>
              <a:t>• Agent / Multi-Agent System (ADK): Coordinates Tutor and Coach agents with fallback layers in orchestrator.py.</a:t>
            </a:r>
          </a:p>
          <a:p>
            <a:pPr>
              <a:spcAft>
                <a:spcPts val="1400"/>
              </a:spcAft>
              <a:defRPr sz="1800">
                <a:solidFill>
                  <a:srgbClr val="0F172A"/>
                </a:solidFill>
                <a:latin typeface="Inter"/>
              </a:defRPr>
            </a:pPr>
            <a:r>
              <a:t>• MCP Server: Exposes recovery index calculations and study note parser to external AI tools in mcp_server.py.</a:t>
            </a:r>
          </a:p>
          <a:p>
            <a:pPr>
              <a:spcAft>
                <a:spcPts val="1400"/>
              </a:spcAft>
              <a:defRPr sz="1800">
                <a:solidFill>
                  <a:srgbClr val="0F172A"/>
                </a:solidFill>
                <a:latin typeface="Inter"/>
              </a:defRPr>
            </a:pPr>
            <a:r>
              <a:t>• Agent Skills: Standing mathematical, document parsing (PDF/PPTX), and 5-Phase ML Sandbox in skills.py.</a:t>
            </a:r>
          </a:p>
          <a:p>
            <a:pPr>
              <a:spcAft>
                <a:spcPts val="1400"/>
              </a:spcAft>
              <a:defRPr sz="1800">
                <a:solidFill>
                  <a:srgbClr val="0F172A"/>
                </a:solidFill>
                <a:latin typeface="Inter"/>
              </a:defRPr>
            </a:pPr>
            <a:r>
              <a:t>• Security: Credentials managed securely; database queries fully parameterized to prevent SQL injection.</a:t>
            </a:r>
          </a:p>
          <a:p>
            <a:pPr>
              <a:spcAft>
                <a:spcPts val="1400"/>
              </a:spcAft>
              <a:defRPr sz="1800">
                <a:solidFill>
                  <a:srgbClr val="0F172A"/>
                </a:solidFill>
                <a:latin typeface="Inter"/>
              </a:defRPr>
            </a:pPr>
            <a:r>
              <a:t>• Deployability: Packaged via multi-architecture Dockerfile and configured for PostgreSQL serverless runtimes.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F0"/>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a:spAutoFit/>
          </a:bodyPr>
          <a:lstStyle/>
          <a:p>
            <a:pPr>
              <a:defRPr sz="4000" b="1">
                <a:solidFill>
                  <a:srgbClr val="2563EB"/>
                </a:solidFill>
                <a:latin typeface="Outfit"/>
              </a:defRPr>
            </a:pPr>
            <a:r>
              <a:t>Core Specialized Agent Skills</a:t>
            </a:r>
          </a:p>
        </p:txBody>
      </p:sp>
      <p:sp>
        <p:nvSpPr>
          <p:cNvPr id="3" name="TextBox 2"/>
          <p:cNvSpPr txBox="1"/>
          <p:nvPr/>
        </p:nvSpPr>
        <p:spPr>
          <a:xfrm>
            <a:off x="914400" y="1828800"/>
            <a:ext cx="10362895" cy="4114800"/>
          </a:xfrm>
          <a:prstGeom prst="rect">
            <a:avLst/>
          </a:prstGeom>
          <a:noFill/>
        </p:spPr>
        <p:txBody>
          <a:bodyPr wrap="square">
            <a:spAutoFit/>
          </a:bodyPr>
          <a:lstStyle/>
          <a:p>
            <a:pPr>
              <a:spcAft>
                <a:spcPts val="1400"/>
              </a:spcAft>
              <a:defRPr sz="1800">
                <a:solidFill>
                  <a:srgbClr val="0F172A"/>
                </a:solidFill>
                <a:latin typeface="Inter"/>
              </a:defRPr>
            </a:pPr>
            <a:r>
              <a:t>• Sophy Engine: Dynamic spaced repetition card generator (Taglish/Tagalog support) utilizing SuperMemo SM-2 algorithm.</a:t>
            </a:r>
          </a:p>
          <a:p>
            <a:pPr>
              <a:spcAft>
                <a:spcPts val="1400"/>
              </a:spcAft>
              <a:defRPr sz="1800">
                <a:solidFill>
                  <a:srgbClr val="0F172A"/>
                </a:solidFill>
                <a:latin typeface="Inter"/>
              </a:defRPr>
            </a:pPr>
            <a:r>
              <a:t>• Document Parser &amp; OCR: Converts uploaded PDF/PPTX slides to clean text; fallbacks to Tesseract OCR for scanned modules.</a:t>
            </a:r>
          </a:p>
          <a:p>
            <a:pPr>
              <a:spcAft>
                <a:spcPts val="1400"/>
              </a:spcAft>
              <a:defRPr sz="1800">
                <a:solidFill>
                  <a:srgbClr val="0F172A"/>
                </a:solidFill>
                <a:latin typeface="Inter"/>
              </a:defRPr>
            </a:pPr>
            <a:r>
              <a:t>• 5-Phase Machine Learning Sandbox: Zero-leakage EDA, ColumnTransformer prep, CV, and XGBoost/LightGBM classification.</a:t>
            </a:r>
          </a:p>
          <a:p>
            <a:pPr>
              <a:spcAft>
                <a:spcPts val="1400"/>
              </a:spcAft>
              <a:defRPr sz="1800">
                <a:solidFill>
                  <a:srgbClr val="0F172A"/>
                </a:solidFill>
                <a:latin typeface="Inter"/>
              </a:defRPr>
            </a:pPr>
            <a:r>
              <a:t>• Recovery Load Calculator: Calculates training load (minutes x RPE) and maps recovery recommendations.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6F0"/>
        </a:solidFill>
        <a:effectLst/>
      </p:bgPr>
    </p:bg>
    <p:spTree>
      <p:nvGrpSpPr>
        <p:cNvPr id="1" name=""/>
        <p:cNvGrpSpPr/>
        <p:nvPr/>
      </p:nvGrpSpPr>
      <p:grpSpPr/>
      <p:sp>
        <p:nvSpPr>
          <p:cNvPr id="2" name="TextBox 1"/>
          <p:cNvSpPr txBox="1"/>
          <p:nvPr/>
        </p:nvSpPr>
        <p:spPr>
          <a:xfrm>
            <a:off x="914400" y="731520"/>
            <a:ext cx="10362895" cy="914400"/>
          </a:xfrm>
          <a:prstGeom prst="rect">
            <a:avLst/>
          </a:prstGeom>
          <a:noFill/>
        </p:spPr>
        <p:txBody>
          <a:bodyPr wrap="square">
            <a:spAutoFit/>
          </a:bodyPr>
          <a:lstStyle/>
          <a:p>
            <a:pPr>
              <a:defRPr sz="4000" b="1">
                <a:solidFill>
                  <a:srgbClr val="2563EB"/>
                </a:solidFill>
                <a:latin typeface="Outfit"/>
              </a:defRPr>
            </a:pPr>
            <a:r>
              <a:t>Production Security &amp; Deployability</a:t>
            </a:r>
          </a:p>
        </p:txBody>
      </p:sp>
      <p:sp>
        <p:nvSpPr>
          <p:cNvPr id="3" name="TextBox 2"/>
          <p:cNvSpPr txBox="1"/>
          <p:nvPr/>
        </p:nvSpPr>
        <p:spPr>
          <a:xfrm>
            <a:off x="914400" y="1828800"/>
            <a:ext cx="10362895" cy="4114800"/>
          </a:xfrm>
          <a:prstGeom prst="rect">
            <a:avLst/>
          </a:prstGeom>
          <a:noFill/>
        </p:spPr>
        <p:txBody>
          <a:bodyPr wrap="square">
            <a:spAutoFit/>
          </a:bodyPr>
          <a:lstStyle/>
          <a:p>
            <a:pPr>
              <a:spcAft>
                <a:spcPts val="1400"/>
              </a:spcAft>
              <a:defRPr sz="1800">
                <a:solidFill>
                  <a:srgbClr val="0F172A"/>
                </a:solidFill>
                <a:latin typeface="Inter"/>
              </a:defRPr>
            </a:pPr>
            <a:r>
              <a:t>• GCP Application Credentials: Authenticates Vertex AI clients securely without hardcoded API keys.</a:t>
            </a:r>
          </a:p>
          <a:p>
            <a:pPr>
              <a:spcAft>
                <a:spcPts val="1400"/>
              </a:spcAft>
              <a:defRPr sz="1800">
                <a:solidFill>
                  <a:srgbClr val="0F172A"/>
                </a:solidFill>
                <a:latin typeface="Inter"/>
              </a:defRPr>
            </a:pPr>
            <a:r>
              <a:t>• Parameterized Queries: Prevents SQL injection across SQLite and PostgreSQL databases via DatabaseAdapter.</a:t>
            </a:r>
          </a:p>
          <a:p>
            <a:pPr>
              <a:spcAft>
                <a:spcPts val="1400"/>
              </a:spcAft>
              <a:defRPr sz="1800">
                <a:solidFill>
                  <a:srgbClr val="0F172A"/>
                </a:solidFill>
                <a:latin typeface="Inter"/>
              </a:defRPr>
            </a:pPr>
            <a:r>
              <a:t>• Docker Container: Packages Python runtime, LightGBM, and Tesseract OCR dependencies for Cloud Run execution.</a:t>
            </a:r>
          </a:p>
          <a:p>
            <a:pPr>
              <a:spcAft>
                <a:spcPts val="1400"/>
              </a:spcAft>
              <a:defRPr sz="1800">
                <a:solidFill>
                  <a:srgbClr val="0F172A"/>
                </a:solidFill>
                <a:latin typeface="Inter"/>
              </a:defRPr>
            </a:pPr>
            <a:r>
              <a:t>• Leakage-free Pipelines: Restricts preprocessing fitting within Stratified K-Fold splits to preserve test sets.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